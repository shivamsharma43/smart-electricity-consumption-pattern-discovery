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notesSlides/notesSlide8.xml" ContentType="application/vnd.openxmlformats-officedocument.presentationml.notesSlide+xml"/>
  <Override PartName="/ppt/charts/chart2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8" d="100"/>
          <a:sy n="88" d="100"/>
        </p:scale>
        <p:origin x="660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E2F0F7"/>
                </a:solidFill>
                <a:latin typeface="Arial"/>
              </a:defRPr>
            </a:pPr>
            <a:r>
              <a:rPr lang="en-US" sz="1300" b="0" i="0" u="none" strike="noStrike">
                <a:solidFill>
                  <a:srgbClr val="E2F0F7"/>
                </a:solidFill>
                <a:latin typeface="Arial"/>
              </a:rPr>
              <a:t>Average Daily Consumption per Cluster (kWh)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Daily kWh</c:v>
                </c:pt>
              </c:strCache>
            </c:strRef>
          </c:tx>
          <c:spPr>
            <a:solidFill>
              <a:srgbClr val="10B981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76E4-4DB3-8DFF-BDC359CB433D}"/>
              </c:ext>
            </c:extLst>
          </c:dPt>
          <c:dPt>
            <c:idx val="1"/>
            <c:invertIfNegative val="0"/>
            <c:bubble3D val="0"/>
            <c:spPr>
              <a:solidFill>
                <a:srgbClr val="0891B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76E4-4DB3-8DFF-BDC359CB433D}"/>
              </c:ext>
            </c:extLst>
          </c:dPt>
          <c:dPt>
            <c:idx val="2"/>
            <c:invertIfNegative val="0"/>
            <c:bubble3D val="0"/>
            <c:spPr>
              <a:solidFill>
                <a:srgbClr val="F59E0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76E4-4DB3-8DFF-BDC359CB433D}"/>
              </c:ext>
            </c:extLst>
          </c:dPt>
          <c:dPt>
            <c:idx val="3"/>
            <c:invertIfNegative val="0"/>
            <c:bubble3D val="0"/>
            <c:spPr>
              <a:solidFill>
                <a:srgbClr val="EF444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76E4-4DB3-8DFF-BDC359CB433D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Cluster 1
Low Usage</c:v>
                </c:pt>
                <c:pt idx="1">
                  <c:v>Cluster 2
Moderate</c:v>
                </c:pt>
                <c:pt idx="2">
                  <c:v>Cluster 3
High Usage</c:v>
                </c:pt>
                <c:pt idx="3">
                  <c:v>Cluster 4
Extreme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1.8</c:v>
                </c:pt>
                <c:pt idx="1">
                  <c:v>3.4</c:v>
                </c:pt>
                <c:pt idx="2">
                  <c:v>5.9</c:v>
                </c:pt>
                <c:pt idx="3">
                  <c:v>9.1999999999999993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76E4-4DB3-8DFF-BDC359CB433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E3A5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112240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E2F0F7"/>
                </a:solidFill>
                <a:latin typeface="Arial"/>
              </a:defRPr>
            </a:pPr>
            <a:r>
              <a:rPr lang="en-US" sz="1300" b="0" i="0" u="none" strike="noStrike">
                <a:solidFill>
                  <a:srgbClr val="E2F0F7"/>
                </a:solidFill>
                <a:latin typeface="Arial"/>
              </a:rPr>
              <a:t>Weekly Energy Usage Trend by Cluster (kWh/day)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Cluster 1 (Low)</c:v>
                </c:pt>
              </c:strCache>
            </c:strRef>
          </c:tx>
          <c:spPr>
            <a:ln w="38100" cap="flat">
              <a:solidFill>
                <a:srgbClr val="10B981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10B981"/>
              </a:solidFill>
              <a:ln w="9525" cap="flat">
                <a:solidFill>
                  <a:srgbClr val="10B981"/>
                </a:solidFill>
                <a:prstDash val="solid"/>
                <a:round/>
              </a:ln>
              <a:effectLst/>
            </c:spPr>
          </c:marker>
          <c:cat>
            <c:strRef>
              <c:f>Sheet1!$A$2:$A$8</c:f>
              <c:strCache>
                <c:ptCount val="7"/>
                <c:pt idx="0">
                  <c:v>Mon</c:v>
                </c:pt>
                <c:pt idx="1">
                  <c:v>Tue</c:v>
                </c:pt>
                <c:pt idx="2">
                  <c:v>Wed</c:v>
                </c:pt>
                <c:pt idx="3">
                  <c:v>Thu</c:v>
                </c:pt>
                <c:pt idx="4">
                  <c:v>Fri</c:v>
                </c:pt>
                <c:pt idx="5">
                  <c:v>Sat</c:v>
                </c:pt>
                <c:pt idx="6">
                  <c:v>Sun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1.5</c:v>
                </c:pt>
                <c:pt idx="1">
                  <c:v>1.7</c:v>
                </c:pt>
                <c:pt idx="2">
                  <c:v>1.6</c:v>
                </c:pt>
                <c:pt idx="3">
                  <c:v>1.8</c:v>
                </c:pt>
                <c:pt idx="4">
                  <c:v>1.9</c:v>
                </c:pt>
                <c:pt idx="5">
                  <c:v>2.1</c:v>
                </c:pt>
                <c:pt idx="6">
                  <c:v>1.4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5060-4B61-9450-184D83A56D0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Cluster 2 (Mod)</c:v>
                </c:pt>
              </c:strCache>
            </c:strRef>
          </c:tx>
          <c:spPr>
            <a:ln w="38100" cap="flat">
              <a:solidFill>
                <a:srgbClr val="0891B2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891B2"/>
              </a:solidFill>
              <a:ln w="9525" cap="flat">
                <a:solidFill>
                  <a:srgbClr val="0891B2"/>
                </a:solidFill>
                <a:prstDash val="solid"/>
                <a:round/>
              </a:ln>
              <a:effectLst/>
            </c:spPr>
          </c:marker>
          <c:cat>
            <c:strRef>
              <c:f>Sheet1!$A$2:$A$8</c:f>
              <c:strCache>
                <c:ptCount val="7"/>
                <c:pt idx="0">
                  <c:v>Mon</c:v>
                </c:pt>
                <c:pt idx="1">
                  <c:v>Tue</c:v>
                </c:pt>
                <c:pt idx="2">
                  <c:v>Wed</c:v>
                </c:pt>
                <c:pt idx="3">
                  <c:v>Thu</c:v>
                </c:pt>
                <c:pt idx="4">
                  <c:v>Fri</c:v>
                </c:pt>
                <c:pt idx="5">
                  <c:v>Sat</c:v>
                </c:pt>
                <c:pt idx="6">
                  <c:v>Sun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3.1</c:v>
                </c:pt>
                <c:pt idx="1">
                  <c:v>3.3</c:v>
                </c:pt>
                <c:pt idx="2">
                  <c:v>3.2</c:v>
                </c:pt>
                <c:pt idx="3">
                  <c:v>3.5</c:v>
                </c:pt>
                <c:pt idx="4">
                  <c:v>3.4</c:v>
                </c:pt>
                <c:pt idx="5">
                  <c:v>3.9</c:v>
                </c:pt>
                <c:pt idx="6">
                  <c:v>2.8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5060-4B61-9450-184D83A56D07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Cluster 3 (High)</c:v>
                </c:pt>
              </c:strCache>
            </c:strRef>
          </c:tx>
          <c:spPr>
            <a:ln w="38100" cap="flat">
              <a:solidFill>
                <a:srgbClr val="F59E0B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F59E0B"/>
              </a:solidFill>
              <a:ln w="9525" cap="flat">
                <a:solidFill>
                  <a:srgbClr val="F59E0B"/>
                </a:solidFill>
                <a:prstDash val="solid"/>
                <a:round/>
              </a:ln>
              <a:effectLst/>
            </c:spPr>
          </c:marker>
          <c:cat>
            <c:strRef>
              <c:f>Sheet1!$A$2:$A$8</c:f>
              <c:strCache>
                <c:ptCount val="7"/>
                <c:pt idx="0">
                  <c:v>Mon</c:v>
                </c:pt>
                <c:pt idx="1">
                  <c:v>Tue</c:v>
                </c:pt>
                <c:pt idx="2">
                  <c:v>Wed</c:v>
                </c:pt>
                <c:pt idx="3">
                  <c:v>Thu</c:v>
                </c:pt>
                <c:pt idx="4">
                  <c:v>Fri</c:v>
                </c:pt>
                <c:pt idx="5">
                  <c:v>Sat</c:v>
                </c:pt>
                <c:pt idx="6">
                  <c:v>Sun</c:v>
                </c:pt>
              </c:strCache>
            </c:strRef>
          </c:cat>
          <c:val>
            <c:numRef>
              <c:f>Sheet1!$D$2:$D$8</c:f>
              <c:numCache>
                <c:formatCode>General</c:formatCode>
                <c:ptCount val="7"/>
                <c:pt idx="0">
                  <c:v>5.5</c:v>
                </c:pt>
                <c:pt idx="1">
                  <c:v>5.8</c:v>
                </c:pt>
                <c:pt idx="2">
                  <c:v>5.6</c:v>
                </c:pt>
                <c:pt idx="3">
                  <c:v>5.9</c:v>
                </c:pt>
                <c:pt idx="4">
                  <c:v>6.1</c:v>
                </c:pt>
                <c:pt idx="5">
                  <c:v>7</c:v>
                </c:pt>
                <c:pt idx="6">
                  <c:v>5.2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2-5060-4B61-9450-184D83A56D0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E3A5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/>
          </a:pPr>
          <a:endParaRPr lang="en-US"/>
        </a:p>
      </c:txPr>
    </c:legend>
    <c:plotVisOnly val="1"/>
    <c:dispBlanksAs val="span"/>
    <c:showDLblsOverMax val="1"/>
  </c:chart>
  <c:spPr>
    <a:solidFill>
      <a:srgbClr val="112240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678148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73152"/>
          </a:xfrm>
          <a:prstGeom prst="rect">
            <a:avLst/>
          </a:prstGeom>
          <a:solidFill>
            <a:srgbClr val="0891B2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0" y="548640"/>
            <a:ext cx="1645920" cy="1645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73152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Electricity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457200" y="150876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Consumption Pattern Discovery</a:t>
            </a:r>
            <a:endParaRPr lang="en-US" sz="2800" dirty="0"/>
          </a:p>
        </p:txBody>
      </p:sp>
      <p:sp>
        <p:nvSpPr>
          <p:cNvPr id="7" name="Shape 4"/>
          <p:cNvSpPr/>
          <p:nvPr/>
        </p:nvSpPr>
        <p:spPr>
          <a:xfrm>
            <a:off x="457200" y="2331720"/>
            <a:ext cx="3200400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8" name="Text 5"/>
          <p:cNvSpPr/>
          <p:nvPr/>
        </p:nvSpPr>
        <p:spPr>
          <a:xfrm>
            <a:off x="457200" y="251460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i="1" dirty="0">
                <a:solidFill>
                  <a:srgbClr val="E2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Unsupervised Learning for Energy Optimization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457200" y="3200400"/>
            <a:ext cx="2606040" cy="1280160"/>
          </a:xfrm>
          <a:prstGeom prst="rect">
            <a:avLst/>
          </a:prstGeom>
          <a:solidFill>
            <a:srgbClr val="112240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7200" y="2971800"/>
            <a:ext cx="2606040" cy="2834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1" name="Text 8"/>
          <p:cNvSpPr/>
          <p:nvPr/>
        </p:nvSpPr>
        <p:spPr>
          <a:xfrm>
            <a:off x="457200" y="324612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457200" y="356616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</a:rPr>
              <a:t>AI304 – Unsupervised Learning Lab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3337560" y="3200400"/>
            <a:ext cx="2606040" cy="1280160"/>
          </a:xfrm>
          <a:prstGeom prst="rect">
            <a:avLst/>
          </a:prstGeom>
          <a:solidFill>
            <a:srgbClr val="112240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14" name="Shape 11"/>
          <p:cNvSpPr/>
          <p:nvPr/>
        </p:nvSpPr>
        <p:spPr>
          <a:xfrm>
            <a:off x="3337560" y="2971800"/>
            <a:ext cx="2606040" cy="2834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5" name="Text 12"/>
          <p:cNvSpPr/>
          <p:nvPr/>
        </p:nvSpPr>
        <p:spPr>
          <a:xfrm>
            <a:off x="3337560" y="324612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3337560" y="356616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</a:rPr>
              <a:t>B.Tech VI – AI &amp; ML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6217920" y="3200400"/>
            <a:ext cx="2606040" cy="1280160"/>
          </a:xfrm>
          <a:prstGeom prst="rect">
            <a:avLst/>
          </a:prstGeom>
          <a:solidFill>
            <a:srgbClr val="112240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 flipV="1">
            <a:off x="6217920" y="2971800"/>
            <a:ext cx="2606040" cy="2834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9" name="Text 16"/>
          <p:cNvSpPr/>
          <p:nvPr/>
        </p:nvSpPr>
        <p:spPr>
          <a:xfrm>
            <a:off x="6217920" y="324612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6295571" y="365760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bg1"/>
                </a:solidFill>
              </a:rPr>
              <a:t>Aman </a:t>
            </a:r>
            <a:r>
              <a:rPr lang="en-US" sz="1300" dirty="0" err="1">
                <a:solidFill>
                  <a:schemeClr val="bg1"/>
                </a:solidFill>
              </a:rPr>
              <a:t>Agarawal</a:t>
            </a:r>
            <a:r>
              <a:rPr lang="en-US" sz="1300" dirty="0">
                <a:solidFill>
                  <a:schemeClr val="bg1"/>
                </a:solidFill>
              </a:rPr>
              <a:t> -</a:t>
            </a:r>
            <a:r>
              <a:rPr lang="en-US" sz="1300" dirty="0" err="1">
                <a:solidFill>
                  <a:schemeClr val="bg1"/>
                </a:solidFill>
              </a:rPr>
              <a:t>Btech</a:t>
            </a:r>
            <a:r>
              <a:rPr lang="en-US" sz="1300" dirty="0">
                <a:solidFill>
                  <a:schemeClr val="bg1"/>
                </a:solidFill>
              </a:rPr>
              <a:t>/10166/23</a:t>
            </a:r>
          </a:p>
          <a:p>
            <a:pPr marL="0" indent="0" algn="ctr">
              <a:buNone/>
            </a:pPr>
            <a:r>
              <a:rPr lang="en-US" sz="1300" dirty="0">
                <a:solidFill>
                  <a:schemeClr val="bg1"/>
                </a:solidFill>
              </a:rPr>
              <a:t>Abhinav Anand –</a:t>
            </a:r>
            <a:r>
              <a:rPr lang="en-US" sz="1300" dirty="0" err="1">
                <a:solidFill>
                  <a:schemeClr val="bg1"/>
                </a:solidFill>
              </a:rPr>
              <a:t>Btech</a:t>
            </a:r>
            <a:r>
              <a:rPr lang="en-US" sz="1300" dirty="0">
                <a:solidFill>
                  <a:schemeClr val="bg1"/>
                </a:solidFill>
              </a:rPr>
              <a:t>/10164/23</a:t>
            </a:r>
          </a:p>
          <a:p>
            <a:pPr marL="0" indent="0" algn="ctr">
              <a:buNone/>
            </a:pPr>
            <a:r>
              <a:rPr lang="en-US" sz="1300" dirty="0">
                <a:solidFill>
                  <a:schemeClr val="bg1"/>
                </a:solidFill>
              </a:rPr>
              <a:t> Mayank Raj       –</a:t>
            </a:r>
            <a:r>
              <a:rPr lang="en-US" sz="1300" dirty="0" err="1">
                <a:solidFill>
                  <a:schemeClr val="bg1"/>
                </a:solidFill>
              </a:rPr>
              <a:t>Btech</a:t>
            </a:r>
            <a:r>
              <a:rPr lang="en-US" sz="1300" dirty="0">
                <a:solidFill>
                  <a:schemeClr val="bg1"/>
                </a:solidFill>
              </a:rPr>
              <a:t>/10640/23</a:t>
            </a:r>
          </a:p>
          <a:p>
            <a:pPr marL="0" indent="0" algn="ctr">
              <a:buNone/>
            </a:pPr>
            <a:r>
              <a:rPr lang="en-US" sz="1300" dirty="0">
                <a:solidFill>
                  <a:schemeClr val="bg1"/>
                </a:solidFill>
              </a:rPr>
              <a:t>Shivam Sharma   -</a:t>
            </a:r>
            <a:r>
              <a:rPr lang="en-US" sz="1300" dirty="0" err="1">
                <a:solidFill>
                  <a:schemeClr val="bg1"/>
                </a:solidFill>
              </a:rPr>
              <a:t>Btech</a:t>
            </a:r>
            <a:r>
              <a:rPr lang="en-US" sz="1300" dirty="0">
                <a:solidFill>
                  <a:schemeClr val="bg1"/>
                </a:solidFill>
              </a:rPr>
              <a:t>/10230/23</a:t>
            </a:r>
          </a:p>
          <a:p>
            <a:pPr marL="0" indent="0" algn="ctr">
              <a:buNone/>
            </a:pPr>
            <a:endParaRPr lang="en-US" sz="1300" dirty="0">
              <a:solidFill>
                <a:schemeClr val="bg1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688BD19-BA1A-29A2-3E3D-52720405FAEF}"/>
              </a:ext>
            </a:extLst>
          </p:cNvPr>
          <p:cNvSpPr txBox="1"/>
          <p:nvPr/>
        </p:nvSpPr>
        <p:spPr>
          <a:xfrm>
            <a:off x="711199" y="2924294"/>
            <a:ext cx="20102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         COURSE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F7F7843-3DEB-674F-8B1A-E47FFD8169F8}"/>
              </a:ext>
            </a:extLst>
          </p:cNvPr>
          <p:cNvSpPr txBox="1"/>
          <p:nvPr/>
        </p:nvSpPr>
        <p:spPr>
          <a:xfrm>
            <a:off x="3725381" y="2914960"/>
            <a:ext cx="18578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      BRANCH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F15009E-8CC8-BD44-3204-27625A7C030E}"/>
              </a:ext>
            </a:extLst>
          </p:cNvPr>
          <p:cNvSpPr txBox="1"/>
          <p:nvPr/>
        </p:nvSpPr>
        <p:spPr>
          <a:xfrm>
            <a:off x="6964680" y="2939897"/>
            <a:ext cx="2133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MEMBERS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2D7A4FB-1D8F-38DE-B19A-4B2587DD215A}"/>
              </a:ext>
            </a:extLst>
          </p:cNvPr>
          <p:cNvSpPr txBox="1"/>
          <p:nvPr/>
        </p:nvSpPr>
        <p:spPr>
          <a:xfrm>
            <a:off x="6295571" y="4572000"/>
            <a:ext cx="29754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SUBMITTED TO ..</a:t>
            </a:r>
            <a:br>
              <a:rPr lang="en-IN" dirty="0">
                <a:solidFill>
                  <a:schemeClr val="bg1"/>
                </a:solidFill>
              </a:rPr>
            </a:br>
            <a:r>
              <a:rPr lang="en-IN" dirty="0">
                <a:solidFill>
                  <a:schemeClr val="bg1"/>
                </a:solidFill>
              </a:rPr>
              <a:t>DR. SHRUTI GARG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7315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777240"/>
            <a:ext cx="2286000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960120"/>
            <a:ext cx="4754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E2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meters collect continuous electricity consumption data from millions of households. Without labelled categories, identifying meaningful usage patterns is challenging yet essential for energy efficiency and anomaly detection.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4688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2D3EE"/>
                </a:solidFill>
              </a:rPr>
              <a:t>Core Challenges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2880360"/>
            <a:ext cx="47548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2F0F7"/>
                </a:solidFill>
              </a:rPr>
              <a:t>No labelled data — purely unsupervised task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2F0F7"/>
                </a:solidFill>
              </a:rPr>
              <a:t>High-frequency, noisy time-series signals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2F0F7"/>
                </a:solidFill>
              </a:rPr>
              <a:t>Diverse household behavior patterns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2F0F7"/>
                </a:solidFill>
              </a:rPr>
              <a:t>Need for scalable anomaly detection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0" y="914400"/>
            <a:ext cx="3383280" cy="3749040"/>
          </a:xfrm>
          <a:prstGeom prst="rect">
            <a:avLst/>
          </a:prstGeom>
          <a:solidFill>
            <a:srgbClr val="112240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486400" y="914400"/>
            <a:ext cx="3383280" cy="54864"/>
          </a:xfrm>
          <a:prstGeom prst="rect">
            <a:avLst/>
          </a:prstGeom>
          <a:solidFill>
            <a:srgbClr val="0891B2"/>
          </a:solidFill>
          <a:ln/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0" y="1097280"/>
            <a:ext cx="1005840" cy="100584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5577840" y="22860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59E0B"/>
                </a:solidFill>
              </a:rPr>
              <a:t>Objective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5669280" y="2697480"/>
            <a:ext cx="3017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2F0F7"/>
                </a:solidFill>
              </a:rPr>
              <a:t>Discover consumption archetypes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2F0F7"/>
                </a:solidFill>
              </a:rPr>
              <a:t>Cluster households by pattern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2F0F7"/>
                </a:solidFill>
              </a:rPr>
              <a:t>Detect anomalies via Isolation Forest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2F0F7"/>
                </a:solidFill>
              </a:rPr>
              <a:t>Provide actionable energy insights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7315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Applications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777240"/>
            <a:ext cx="2743200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1051560"/>
            <a:ext cx="2651760" cy="1691640"/>
          </a:xfrm>
          <a:prstGeom prst="rect">
            <a:avLst/>
          </a:prstGeom>
          <a:solidFill>
            <a:srgbClr val="112240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051560"/>
            <a:ext cx="2651760" cy="45720"/>
          </a:xfrm>
          <a:prstGeom prst="rect">
            <a:avLst/>
          </a:prstGeom>
          <a:solidFill>
            <a:srgbClr val="0891B2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161288"/>
            <a:ext cx="347472" cy="34747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68680" y="114300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D3EE"/>
                </a:solidFill>
              </a:rPr>
              <a:t>Energy Optimization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57200" y="1600200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F0F7"/>
                </a:solidFill>
              </a:rPr>
              <a:t>Identify peak-demand windows and suggest load-shifting strategies to reduce waste.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200400" y="1051560"/>
            <a:ext cx="2651760" cy="1691640"/>
          </a:xfrm>
          <a:prstGeom prst="rect">
            <a:avLst/>
          </a:prstGeom>
          <a:solidFill>
            <a:srgbClr val="112240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200400" y="1051560"/>
            <a:ext cx="2651760" cy="45720"/>
          </a:xfrm>
          <a:prstGeom prst="rect">
            <a:avLst/>
          </a:prstGeom>
          <a:solidFill>
            <a:srgbClr val="0891B2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91840" y="1161288"/>
            <a:ext cx="347472" cy="34747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703320" y="114300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D3EE"/>
                </a:solidFill>
              </a:rPr>
              <a:t>Anomaly Detection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3291840" y="1600200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F0F7"/>
                </a:solidFill>
              </a:rPr>
              <a:t>Flag unusual spikes — potential meter faults, theft, or appliance failures.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035040" y="1051560"/>
            <a:ext cx="2651760" cy="1691640"/>
          </a:xfrm>
          <a:prstGeom prst="rect">
            <a:avLst/>
          </a:prstGeom>
          <a:solidFill>
            <a:srgbClr val="112240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035040" y="1051560"/>
            <a:ext cx="2651760" cy="45720"/>
          </a:xfrm>
          <a:prstGeom prst="rect">
            <a:avLst/>
          </a:prstGeom>
          <a:solidFill>
            <a:srgbClr val="0891B2"/>
          </a:solidFill>
          <a:ln/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26480" y="1161288"/>
            <a:ext cx="347472" cy="34747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537960" y="114300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D3EE"/>
                </a:solidFill>
              </a:rPr>
              <a:t>Smart Grid Mgmt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6126480" y="1600200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F0F7"/>
                </a:solidFill>
              </a:rPr>
              <a:t>Balance supply and demand across the grid using cluster-based forecasting.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365760" y="2926080"/>
            <a:ext cx="2651760" cy="1691640"/>
          </a:xfrm>
          <a:prstGeom prst="rect">
            <a:avLst/>
          </a:prstGeom>
          <a:solidFill>
            <a:srgbClr val="112240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365760" y="2926080"/>
            <a:ext cx="2651760" cy="45720"/>
          </a:xfrm>
          <a:prstGeom prst="rect">
            <a:avLst/>
          </a:prstGeom>
          <a:solidFill>
            <a:srgbClr val="0891B2"/>
          </a:solidFill>
          <a:ln/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3035808"/>
            <a:ext cx="347472" cy="347472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868680" y="301752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D3EE"/>
                </a:solidFill>
              </a:rPr>
              <a:t>Personalized Tariffs</a:t>
            </a:r>
            <a:endParaRPr lang="en-US" sz="1200" dirty="0"/>
          </a:p>
        </p:txBody>
      </p:sp>
      <p:sp>
        <p:nvSpPr>
          <p:cNvPr id="25" name="Text 19"/>
          <p:cNvSpPr/>
          <p:nvPr/>
        </p:nvSpPr>
        <p:spPr>
          <a:xfrm>
            <a:off x="457200" y="3474720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F0F7"/>
                </a:solidFill>
              </a:rPr>
              <a:t>Design consumption-tier pricing based on real household usage profiles.</a:t>
            </a:r>
            <a:endParaRPr lang="en-US" sz="1100" dirty="0"/>
          </a:p>
        </p:txBody>
      </p:sp>
      <p:sp>
        <p:nvSpPr>
          <p:cNvPr id="26" name="Shape 20"/>
          <p:cNvSpPr/>
          <p:nvPr/>
        </p:nvSpPr>
        <p:spPr>
          <a:xfrm>
            <a:off x="3200400" y="2926080"/>
            <a:ext cx="2651760" cy="1691640"/>
          </a:xfrm>
          <a:prstGeom prst="rect">
            <a:avLst/>
          </a:prstGeom>
          <a:solidFill>
            <a:srgbClr val="112240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3200400" y="2926080"/>
            <a:ext cx="2651760" cy="45720"/>
          </a:xfrm>
          <a:prstGeom prst="rect">
            <a:avLst/>
          </a:prstGeom>
          <a:solidFill>
            <a:srgbClr val="0891B2"/>
          </a:solidFill>
          <a:ln/>
        </p:spPr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91840" y="3035808"/>
            <a:ext cx="347472" cy="347472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3703320" y="301752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D3EE"/>
                </a:solidFill>
              </a:rPr>
              <a:t>Demand Forecasting</a:t>
            </a:r>
            <a:endParaRPr lang="en-US" sz="1200" dirty="0"/>
          </a:p>
        </p:txBody>
      </p:sp>
      <p:sp>
        <p:nvSpPr>
          <p:cNvPr id="30" name="Text 23"/>
          <p:cNvSpPr/>
          <p:nvPr/>
        </p:nvSpPr>
        <p:spPr>
          <a:xfrm>
            <a:off x="3291840" y="3474720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F0F7"/>
                </a:solidFill>
              </a:rPr>
              <a:t>Predict future consumption for better infrastructure investment decisions.</a:t>
            </a:r>
            <a:endParaRPr lang="en-US" sz="1100" dirty="0"/>
          </a:p>
        </p:txBody>
      </p:sp>
      <p:sp>
        <p:nvSpPr>
          <p:cNvPr id="31" name="Shape 24"/>
          <p:cNvSpPr/>
          <p:nvPr/>
        </p:nvSpPr>
        <p:spPr>
          <a:xfrm>
            <a:off x="6035040" y="2926080"/>
            <a:ext cx="2651760" cy="1691640"/>
          </a:xfrm>
          <a:prstGeom prst="rect">
            <a:avLst/>
          </a:prstGeom>
          <a:solidFill>
            <a:srgbClr val="112240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2" name="Shape 25"/>
          <p:cNvSpPr/>
          <p:nvPr/>
        </p:nvSpPr>
        <p:spPr>
          <a:xfrm>
            <a:off x="6035040" y="2926080"/>
            <a:ext cx="2651760" cy="45720"/>
          </a:xfrm>
          <a:prstGeom prst="rect">
            <a:avLst/>
          </a:prstGeom>
          <a:solidFill>
            <a:srgbClr val="0891B2"/>
          </a:solidFill>
          <a:ln/>
        </p:spPr>
      </p:sp>
      <p:pic>
        <p:nvPicPr>
          <p:cNvPr id="33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26480" y="3035808"/>
            <a:ext cx="347472" cy="347472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6537960" y="301752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D3EE"/>
                </a:solidFill>
              </a:rPr>
              <a:t>Carbon Footprint</a:t>
            </a:r>
            <a:endParaRPr lang="en-US" sz="1200" dirty="0"/>
          </a:p>
        </p:txBody>
      </p:sp>
      <p:sp>
        <p:nvSpPr>
          <p:cNvPr id="35" name="Text 27"/>
          <p:cNvSpPr/>
          <p:nvPr/>
        </p:nvSpPr>
        <p:spPr>
          <a:xfrm>
            <a:off x="6126480" y="3474720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F0F7"/>
                </a:solidFill>
              </a:rPr>
              <a:t>Track high-consumption households to support sustainability programmes.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7315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Description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777240"/>
            <a:ext cx="2286000" cy="36576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960120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97280" y="9601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2D3EE"/>
                </a:solidFill>
              </a:rPr>
              <a:t>UCI Household Electric Power Consumption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457200" y="1600200"/>
            <a:ext cx="1920240" cy="914400"/>
          </a:xfrm>
          <a:prstGeom prst="rect">
            <a:avLst/>
          </a:prstGeom>
          <a:solidFill>
            <a:srgbClr val="112240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57200" y="1600200"/>
            <a:ext cx="1920240" cy="45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0" name="Text 7"/>
          <p:cNvSpPr/>
          <p:nvPr/>
        </p:nvSpPr>
        <p:spPr>
          <a:xfrm>
            <a:off x="457200" y="1664208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59E0B"/>
                </a:solidFill>
              </a:rPr>
              <a:t>2M+</a:t>
            </a:r>
            <a:endParaRPr lang="en-US" sz="2600" dirty="0"/>
          </a:p>
        </p:txBody>
      </p:sp>
      <p:sp>
        <p:nvSpPr>
          <p:cNvPr id="11" name="Text 8"/>
          <p:cNvSpPr/>
          <p:nvPr/>
        </p:nvSpPr>
        <p:spPr>
          <a:xfrm>
            <a:off x="457200" y="207568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</a:rPr>
              <a:t>Records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2560320" y="1600200"/>
            <a:ext cx="1920240" cy="914400"/>
          </a:xfrm>
          <a:prstGeom prst="rect">
            <a:avLst/>
          </a:prstGeom>
          <a:solidFill>
            <a:srgbClr val="112240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2560320" y="1600200"/>
            <a:ext cx="1920240" cy="45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4" name="Text 11"/>
          <p:cNvSpPr/>
          <p:nvPr/>
        </p:nvSpPr>
        <p:spPr>
          <a:xfrm>
            <a:off x="2560320" y="1664208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59E0B"/>
                </a:solidFill>
              </a:rPr>
              <a:t>~4yr</a:t>
            </a:r>
            <a:endParaRPr lang="en-US" sz="2600" dirty="0"/>
          </a:p>
        </p:txBody>
      </p:sp>
      <p:sp>
        <p:nvSpPr>
          <p:cNvPr id="15" name="Text 12"/>
          <p:cNvSpPr/>
          <p:nvPr/>
        </p:nvSpPr>
        <p:spPr>
          <a:xfrm>
            <a:off x="2560320" y="207568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</a:rPr>
              <a:t>Duration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4663440" y="1600200"/>
            <a:ext cx="1920240" cy="914400"/>
          </a:xfrm>
          <a:prstGeom prst="rect">
            <a:avLst/>
          </a:prstGeom>
          <a:solidFill>
            <a:srgbClr val="112240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4663440" y="1600200"/>
            <a:ext cx="1920240" cy="45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8" name="Text 15"/>
          <p:cNvSpPr/>
          <p:nvPr/>
        </p:nvSpPr>
        <p:spPr>
          <a:xfrm>
            <a:off x="4663440" y="1664208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59E0B"/>
                </a:solidFill>
              </a:rPr>
              <a:t>9</a:t>
            </a:r>
            <a:endParaRPr lang="en-US" sz="2600" dirty="0"/>
          </a:p>
        </p:txBody>
      </p:sp>
      <p:sp>
        <p:nvSpPr>
          <p:cNvPr id="19" name="Text 16"/>
          <p:cNvSpPr/>
          <p:nvPr/>
        </p:nvSpPr>
        <p:spPr>
          <a:xfrm>
            <a:off x="4663440" y="207568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</a:rPr>
              <a:t>Features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6766560" y="1600200"/>
            <a:ext cx="1920240" cy="914400"/>
          </a:xfrm>
          <a:prstGeom prst="rect">
            <a:avLst/>
          </a:prstGeom>
          <a:solidFill>
            <a:srgbClr val="112240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6766560" y="1600200"/>
            <a:ext cx="1920240" cy="45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2" name="Text 19"/>
          <p:cNvSpPr/>
          <p:nvPr/>
        </p:nvSpPr>
        <p:spPr>
          <a:xfrm>
            <a:off x="6766560" y="1664208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59E0B"/>
                </a:solidFill>
              </a:rPr>
              <a:t>1-min</a:t>
            </a:r>
            <a:endParaRPr lang="en-US" sz="2600" dirty="0"/>
          </a:p>
        </p:txBody>
      </p:sp>
      <p:sp>
        <p:nvSpPr>
          <p:cNvPr id="23" name="Text 20"/>
          <p:cNvSpPr/>
          <p:nvPr/>
        </p:nvSpPr>
        <p:spPr>
          <a:xfrm>
            <a:off x="6766560" y="207568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</a:rPr>
              <a:t>Resolution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457200" y="26517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D3EE"/>
                </a:solidFill>
              </a:rPr>
              <a:t>Key Features</a:t>
            </a:r>
            <a:endParaRPr lang="en-US" sz="14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017520"/>
          <a:ext cx="8229600" cy="1828799"/>
        </p:xfrm>
        <a:graphic>
          <a:graphicData uri="http://schemas.openxmlformats.org/drawingml/2006/table">
            <a:tbl>
              <a:tblPr/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29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6125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59E0B"/>
                          </a:solidFill>
                        </a:rPr>
                        <a:t>Feature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59E0B"/>
                          </a:solidFill>
                        </a:rPr>
                        <a:t>Description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125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2F0F7"/>
                          </a:solidFill>
                        </a:rPr>
                        <a:t>Global Active Power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2F0F7"/>
                          </a:solidFill>
                        </a:rPr>
                        <a:t>Total active energy consumed (kW)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125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2F0F7"/>
                          </a:solidFill>
                        </a:rPr>
                        <a:t>Global Reactive Power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2F0F7"/>
                          </a:solidFill>
                        </a:rPr>
                        <a:t>Reactive energy (kVAr)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125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2F0F7"/>
                          </a:solidFill>
                        </a:rPr>
                        <a:t>Voltage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2F0F7"/>
                          </a:solidFill>
                        </a:rPr>
                        <a:t>Minute-averaged voltage (V)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125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2F0F7"/>
                          </a:solidFill>
                        </a:rPr>
                        <a:t>Sub-metering 1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2F0F7"/>
                          </a:solidFill>
                        </a:rPr>
                        <a:t>Kitchen appliances (Wh)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125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2F0F7"/>
                          </a:solidFill>
                        </a:rPr>
                        <a:t>Sub-metering 2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2F0F7"/>
                          </a:solidFill>
                        </a:rPr>
                        <a:t>Laundry appliances (Wh)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125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2F0F7"/>
                          </a:solidFill>
                        </a:rPr>
                        <a:t>Sub-metering 3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2F0F7"/>
                          </a:solidFill>
                        </a:rPr>
                        <a:t>HVAC / Water heater (Wh)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7315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Preprocessing &amp; Feature Engineering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777240"/>
            <a:ext cx="3200400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1005840"/>
            <a:ext cx="4023360" cy="1371600"/>
          </a:xfrm>
          <a:prstGeom prst="rect">
            <a:avLst/>
          </a:prstGeom>
          <a:solidFill>
            <a:srgbClr val="112240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005840"/>
            <a:ext cx="594360" cy="13716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1417320"/>
            <a:ext cx="594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01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051560" y="10972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D3EE"/>
                </a:solidFill>
              </a:rPr>
              <a:t>Load &amp; Parse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51560" y="150876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F0F7"/>
                </a:solidFill>
              </a:rPr>
              <a:t>Read CSV, parse datetime index, combine Date+Time columns.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663440" y="1005840"/>
            <a:ext cx="4023360" cy="1371600"/>
          </a:xfrm>
          <a:prstGeom prst="rect">
            <a:avLst/>
          </a:prstGeom>
          <a:solidFill>
            <a:srgbClr val="112240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63440" y="1005840"/>
            <a:ext cx="594360" cy="13716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3" name="Text 11"/>
          <p:cNvSpPr/>
          <p:nvPr/>
        </p:nvSpPr>
        <p:spPr>
          <a:xfrm>
            <a:off x="4663440" y="1417320"/>
            <a:ext cx="594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02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349240" y="10972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D3EE"/>
                </a:solidFill>
              </a:rPr>
              <a:t>Handle Missing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349240" y="150876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F0F7"/>
                </a:solidFill>
              </a:rPr>
              <a:t>Replace '?' with NaN, forward-fill short gaps.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5760" y="2560320"/>
            <a:ext cx="4023360" cy="1371600"/>
          </a:xfrm>
          <a:prstGeom prst="rect">
            <a:avLst/>
          </a:prstGeom>
          <a:solidFill>
            <a:srgbClr val="112240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560320"/>
            <a:ext cx="594360" cy="13716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8" name="Text 16"/>
          <p:cNvSpPr/>
          <p:nvPr/>
        </p:nvSpPr>
        <p:spPr>
          <a:xfrm>
            <a:off x="365760" y="2971800"/>
            <a:ext cx="594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03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051560" y="26517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D3EE"/>
                </a:solidFill>
              </a:rPr>
              <a:t>Aggregate Daily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051560" y="306324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F0F7"/>
                </a:solidFill>
              </a:rPr>
              <a:t>Resample minute-level data to daily averages per feature.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663440" y="2560320"/>
            <a:ext cx="4023360" cy="1371600"/>
          </a:xfrm>
          <a:prstGeom prst="rect">
            <a:avLst/>
          </a:prstGeom>
          <a:solidFill>
            <a:srgbClr val="112240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663440" y="2560320"/>
            <a:ext cx="594360" cy="13716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3" name="Text 21"/>
          <p:cNvSpPr/>
          <p:nvPr/>
        </p:nvSpPr>
        <p:spPr>
          <a:xfrm>
            <a:off x="4663440" y="2971800"/>
            <a:ext cx="594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04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5349240" y="26517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D3EE"/>
                </a:solidFill>
              </a:rPr>
              <a:t>Normalize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349240" y="306324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F0F7"/>
                </a:solidFill>
              </a:rPr>
              <a:t>Apply MinMaxScaler across all features → range [0, 1].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65760" y="4251960"/>
            <a:ext cx="8412480" cy="777240"/>
          </a:xfrm>
          <a:prstGeom prst="rect">
            <a:avLst/>
          </a:prstGeom>
          <a:solidFill>
            <a:srgbClr val="112240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65760" y="4251960"/>
            <a:ext cx="8412480" cy="45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8" name="Text 26"/>
          <p:cNvSpPr/>
          <p:nvPr/>
        </p:nvSpPr>
        <p:spPr>
          <a:xfrm>
            <a:off x="502920" y="431596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</a:rPr>
              <a:t>Engineered Features: 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2514600" y="4315968"/>
            <a:ext cx="6126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F0F7"/>
                </a:solidFill>
              </a:rPr>
              <a:t>Daily Mean  |  Peak Usage  |  Variance  |  Day-of-week  |  Weekend Flag  |  Rolling 7-day Average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7315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Architecture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777240"/>
            <a:ext cx="2286000" cy="36576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96012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05840" y="10058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94A3B8"/>
                </a:solidFill>
              </a:rPr>
              <a:t>Three-stage unsupervised pipeline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365760" y="1508760"/>
            <a:ext cx="2651760" cy="2377440"/>
          </a:xfrm>
          <a:prstGeom prst="rect">
            <a:avLst/>
          </a:prstGeom>
          <a:solidFill>
            <a:srgbClr val="112240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365760" y="1508760"/>
            <a:ext cx="2651760" cy="7315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0" name="Text 7"/>
          <p:cNvSpPr/>
          <p:nvPr/>
        </p:nvSpPr>
        <p:spPr>
          <a:xfrm>
            <a:off x="457200" y="16002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891B2"/>
                </a:solidFill>
              </a:rPr>
              <a:t>K-Medoids Clustering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457200" y="2103120"/>
            <a:ext cx="24688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2F0F7"/>
                </a:solidFill>
              </a:rPr>
              <a:t>Robust to outliers — uses actual data points as centres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2F0F7"/>
                </a:solidFill>
              </a:rPr>
              <a:t>Optimal k via Silhouette Score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2F0F7"/>
                </a:solidFill>
              </a:rPr>
              <a:t>Yields interpretable household archetypes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200400" y="1508760"/>
            <a:ext cx="2651760" cy="2377440"/>
          </a:xfrm>
          <a:prstGeom prst="rect">
            <a:avLst/>
          </a:prstGeom>
          <a:solidFill>
            <a:srgbClr val="112240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200400" y="1508760"/>
            <a:ext cx="2651760" cy="7315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4" name="Text 11"/>
          <p:cNvSpPr/>
          <p:nvPr/>
        </p:nvSpPr>
        <p:spPr>
          <a:xfrm>
            <a:off x="3291840" y="16002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C3AED"/>
                </a:solidFill>
              </a:rPr>
              <a:t>DBSCAN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3291840" y="2103120"/>
            <a:ext cx="24688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2F0F7"/>
                </a:solidFill>
              </a:rPr>
              <a:t>Density-based — no need to pre-specify k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2F0F7"/>
                </a:solidFill>
              </a:rPr>
              <a:t>Automatically identifies noise and outliers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2F0F7"/>
                </a:solidFill>
              </a:rPr>
              <a:t>Handles non-spherical cluster shapes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6035040" y="1508760"/>
            <a:ext cx="2651760" cy="2377440"/>
          </a:xfrm>
          <a:prstGeom prst="rect">
            <a:avLst/>
          </a:prstGeom>
          <a:solidFill>
            <a:srgbClr val="112240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6035040" y="1508760"/>
            <a:ext cx="2651760" cy="7315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8" name="Text 15"/>
          <p:cNvSpPr/>
          <p:nvPr/>
        </p:nvSpPr>
        <p:spPr>
          <a:xfrm>
            <a:off x="6126480" y="16002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B981"/>
                </a:solidFill>
              </a:rPr>
              <a:t>Agglomerative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6126480" y="2103120"/>
            <a:ext cx="24688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2F0F7"/>
                </a:solidFill>
              </a:rPr>
              <a:t>Hierarchical bottom-up merging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2F0F7"/>
                </a:solidFill>
              </a:rPr>
              <a:t>Ward linkage minimises within-cluster variance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2F0F7"/>
                </a:solidFill>
              </a:rPr>
              <a:t>Dendrogram reveals natural grouping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365760" y="4023360"/>
            <a:ext cx="8412480" cy="1005840"/>
          </a:xfrm>
          <a:prstGeom prst="rect">
            <a:avLst/>
          </a:prstGeom>
          <a:solidFill>
            <a:srgbClr val="112240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365760" y="4023360"/>
            <a:ext cx="8412480" cy="64008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2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4133088"/>
            <a:ext cx="384048" cy="384048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1005840" y="409651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</a:rPr>
              <a:t>Isolation Forest — Anomaly Detection</a:t>
            </a:r>
            <a:endParaRPr lang="en-US" sz="1300" dirty="0"/>
          </a:p>
        </p:txBody>
      </p:sp>
      <p:sp>
        <p:nvSpPr>
          <p:cNvPr id="24" name="Text 20"/>
          <p:cNvSpPr/>
          <p:nvPr/>
        </p:nvSpPr>
        <p:spPr>
          <a:xfrm>
            <a:off x="502920" y="449884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F0F7"/>
                </a:solidFill>
              </a:rPr>
              <a:t>Randomly partitions feature space via decision trees. Anomalies require fewer splits → lower isolation depth. Contamination parameter = 0.05.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7315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 Results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777240"/>
            <a:ext cx="2286000" cy="36576"/>
          </a:xfrm>
          <a:prstGeom prst="rect">
            <a:avLst/>
          </a:prstGeom>
          <a:solidFill>
            <a:srgbClr val="F59E0B"/>
          </a:solidFill>
          <a:ln/>
        </p:spPr>
      </p:sp>
      <p:graphicFrame>
        <p:nvGraphicFramePr>
          <p:cNvPr id="6" name="Chart 0"/>
          <p:cNvGraphicFramePr/>
          <p:nvPr/>
        </p:nvGraphicFramePr>
        <p:xfrm>
          <a:off x="365760" y="960120"/>
          <a:ext cx="502920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5623560" y="1005840"/>
            <a:ext cx="3200400" cy="868680"/>
          </a:xfrm>
          <a:prstGeom prst="rect">
            <a:avLst/>
          </a:prstGeom>
          <a:solidFill>
            <a:srgbClr val="112240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623560" y="1005840"/>
            <a:ext cx="73152" cy="8686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9" name="Text 6"/>
          <p:cNvSpPr/>
          <p:nvPr/>
        </p:nvSpPr>
        <p:spPr>
          <a:xfrm>
            <a:off x="5760720" y="105156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B981"/>
                </a:solidFill>
              </a:rPr>
              <a:t>Cluster 1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760720" y="1353312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F0F7"/>
                </a:solidFill>
              </a:rPr>
              <a:t>Low-usage households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F0F7"/>
                </a:solidFill>
              </a:rPr>
              <a:t>Energy-conscious singles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623560" y="1993392"/>
            <a:ext cx="3200400" cy="868680"/>
          </a:xfrm>
          <a:prstGeom prst="rect">
            <a:avLst/>
          </a:prstGeom>
          <a:solidFill>
            <a:srgbClr val="112240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623560" y="1993392"/>
            <a:ext cx="73152" cy="86868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3" name="Text 10"/>
          <p:cNvSpPr/>
          <p:nvPr/>
        </p:nvSpPr>
        <p:spPr>
          <a:xfrm>
            <a:off x="5760720" y="203911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891B2"/>
                </a:solidFill>
              </a:rPr>
              <a:t>Cluster 2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5760720" y="2340864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F0F7"/>
                </a:solidFill>
              </a:rPr>
              <a:t>Average families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F0F7"/>
                </a:solidFill>
              </a:rPr>
              <a:t>Standard daily routines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5623560" y="2980944"/>
            <a:ext cx="3200400" cy="868680"/>
          </a:xfrm>
          <a:prstGeom prst="rect">
            <a:avLst/>
          </a:prstGeom>
          <a:solidFill>
            <a:srgbClr val="112240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623560" y="2980944"/>
            <a:ext cx="73152" cy="8686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7" name="Text 14"/>
          <p:cNvSpPr/>
          <p:nvPr/>
        </p:nvSpPr>
        <p:spPr>
          <a:xfrm>
            <a:off x="5760720" y="302666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</a:rPr>
              <a:t>Cluster 3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5760720" y="3328416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F0F7"/>
                </a:solidFill>
              </a:rPr>
              <a:t>High consumers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F0F7"/>
                </a:solidFill>
              </a:rPr>
              <a:t>Large or WFH households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5623560" y="3968496"/>
            <a:ext cx="3200400" cy="868680"/>
          </a:xfrm>
          <a:prstGeom prst="rect">
            <a:avLst/>
          </a:prstGeom>
          <a:solidFill>
            <a:srgbClr val="112240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5623560" y="3968496"/>
            <a:ext cx="73152" cy="86868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1" name="Text 18"/>
          <p:cNvSpPr/>
          <p:nvPr/>
        </p:nvSpPr>
        <p:spPr>
          <a:xfrm>
            <a:off x="5760720" y="401421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F4444"/>
                </a:solidFill>
              </a:rPr>
              <a:t>Cluster 4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5760720" y="431596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F0F7"/>
                </a:solidFill>
              </a:rPr>
              <a:t>Extreme usage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F0F7"/>
                </a:solidFill>
              </a:rPr>
              <a:t>Anomaly candidates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7315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 &amp; Analysis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777240"/>
            <a:ext cx="2286000" cy="36576"/>
          </a:xfrm>
          <a:prstGeom prst="rect">
            <a:avLst/>
          </a:prstGeom>
          <a:solidFill>
            <a:srgbClr val="F59E0B"/>
          </a:solidFill>
          <a:ln/>
        </p:spPr>
      </p:sp>
      <p:graphicFrame>
        <p:nvGraphicFramePr>
          <p:cNvPr id="6" name="Chart 0"/>
          <p:cNvGraphicFramePr/>
          <p:nvPr/>
        </p:nvGraphicFramePr>
        <p:xfrm>
          <a:off x="365760" y="960120"/>
          <a:ext cx="8412480" cy="3017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365760" y="4114800"/>
            <a:ext cx="8412480" cy="822960"/>
          </a:xfrm>
          <a:prstGeom prst="rect">
            <a:avLst/>
          </a:prstGeom>
          <a:solidFill>
            <a:srgbClr val="112240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502920" y="422452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E2F0F7"/>
                </a:solidFill>
              </a:rPr>
              <a:t>Key Insight: Weekend consumption spikes in high-usage clusters; low-usage households maintain flat profiles throughout the week.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7315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 &amp; Real-Life Behavior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777240"/>
            <a:ext cx="2743200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1005840"/>
            <a:ext cx="4114800" cy="1645920"/>
          </a:xfrm>
          <a:prstGeom prst="rect">
            <a:avLst/>
          </a:prstGeom>
          <a:solidFill>
            <a:srgbClr val="112240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005840"/>
            <a:ext cx="4114800" cy="54864"/>
          </a:xfrm>
          <a:prstGeom prst="rect">
            <a:avLst/>
          </a:prstGeom>
          <a:solidFill>
            <a:srgbClr val="0891B2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143000"/>
            <a:ext cx="411480" cy="4114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05840" y="1115568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D3EE"/>
                </a:solidFill>
              </a:rPr>
              <a:t>Household Archetypes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02920" y="164592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F0F7"/>
                </a:solidFill>
              </a:rPr>
              <a:t>Cluster 1 → energy-conscious singles. Cluster 2 → standard families. Cluster 3 → large or WFH households. Cluster 4 → anomaly suspects.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754880" y="1005840"/>
            <a:ext cx="4114800" cy="1645920"/>
          </a:xfrm>
          <a:prstGeom prst="rect">
            <a:avLst/>
          </a:prstGeom>
          <a:solidFill>
            <a:srgbClr val="112240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754880" y="1005840"/>
            <a:ext cx="4114800" cy="54864"/>
          </a:xfrm>
          <a:prstGeom prst="rect">
            <a:avLst/>
          </a:prstGeom>
          <a:solidFill>
            <a:srgbClr val="0891B2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1143000"/>
            <a:ext cx="411480" cy="41148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394960" y="1115568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D3EE"/>
                </a:solidFill>
              </a:rPr>
              <a:t>Peak-Time Behavior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4892040" y="164592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F0F7"/>
                </a:solidFill>
              </a:rPr>
              <a:t>High-usage clusters peak between 6-9 PM (dinner + entertainment). Low-usage clusters show flat profiles all day.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365760" y="2834640"/>
            <a:ext cx="4114800" cy="1645920"/>
          </a:xfrm>
          <a:prstGeom prst="rect">
            <a:avLst/>
          </a:prstGeom>
          <a:solidFill>
            <a:srgbClr val="112240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365760" y="2834640"/>
            <a:ext cx="4114800" cy="54864"/>
          </a:xfrm>
          <a:prstGeom prst="rect">
            <a:avLst/>
          </a:prstGeom>
          <a:solidFill>
            <a:srgbClr val="0891B2"/>
          </a:solidFill>
          <a:ln/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2971800"/>
            <a:ext cx="411480" cy="41148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005840" y="2944368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D3EE"/>
                </a:solidFill>
              </a:rPr>
              <a:t>Seasonal Patterns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502920" y="347472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F0F7"/>
                </a:solidFill>
              </a:rPr>
              <a:t>Consumption rises in winter (HVAC heating) and summer (air conditioning). Cluster 3 most sensitive to seasonal variation.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4754880" y="2834640"/>
            <a:ext cx="4114800" cy="1645920"/>
          </a:xfrm>
          <a:prstGeom prst="rect">
            <a:avLst/>
          </a:prstGeom>
          <a:solidFill>
            <a:srgbClr val="112240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4754880" y="2834640"/>
            <a:ext cx="4114800" cy="54864"/>
          </a:xfrm>
          <a:prstGeom prst="rect">
            <a:avLst/>
          </a:prstGeom>
          <a:solidFill>
            <a:srgbClr val="0891B2"/>
          </a:solidFill>
          <a:ln/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92040" y="2971800"/>
            <a:ext cx="411480" cy="41148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5394960" y="2944368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D3EE"/>
                </a:solidFill>
              </a:rPr>
              <a:t>Anomaly Interpretation</a:t>
            </a:r>
            <a:endParaRPr lang="en-US" sz="1300" dirty="0"/>
          </a:p>
        </p:txBody>
      </p:sp>
      <p:sp>
        <p:nvSpPr>
          <p:cNvPr id="25" name="Text 19"/>
          <p:cNvSpPr/>
          <p:nvPr/>
        </p:nvSpPr>
        <p:spPr>
          <a:xfrm>
            <a:off x="4892040" y="347472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F0F7"/>
                </a:solidFill>
              </a:rPr>
              <a:t>Isolation Forest flagged ~5% of records — likely meter faults, electricity theft, or industrial appliance misuse.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7315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Ethical &amp; Societal Impact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777240"/>
            <a:ext cx="2286000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960120"/>
            <a:ext cx="4023360" cy="3931920"/>
          </a:xfrm>
          <a:prstGeom prst="rect">
            <a:avLst/>
          </a:prstGeom>
          <a:solidFill>
            <a:srgbClr val="112240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960120"/>
            <a:ext cx="402336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1024128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B981"/>
                </a:solidFill>
              </a:rPr>
              <a:t>Societal Benefits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" y="1508760"/>
            <a:ext cx="37490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2F0F7"/>
                </a:solidFill>
              </a:rPr>
              <a:t>Reduce national energy waste by identifying inefficiencies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2F0F7"/>
                </a:solidFill>
              </a:rPr>
              <a:t>Enable dynamic pricing → savings for low-income households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2F0F7"/>
                </a:solidFill>
              </a:rPr>
              <a:t>Support renewable integration by predicting demand curves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2F0F7"/>
                </a:solidFill>
              </a:rPr>
              <a:t>Improve grid reliability and reduce blackout risk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2F0F7"/>
                </a:solidFill>
              </a:rPr>
              <a:t>Empower consumers with personalised usage dashboards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54880" y="960120"/>
            <a:ext cx="4023360" cy="3931920"/>
          </a:xfrm>
          <a:prstGeom prst="rect">
            <a:avLst/>
          </a:prstGeom>
          <a:solidFill>
            <a:srgbClr val="112240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960120"/>
            <a:ext cx="4023360" cy="54864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2" name="Text 10"/>
          <p:cNvSpPr/>
          <p:nvPr/>
        </p:nvSpPr>
        <p:spPr>
          <a:xfrm>
            <a:off x="4892040" y="1024128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F4444"/>
                </a:solidFill>
              </a:rPr>
              <a:t>Ethical Concerns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892040" y="1508760"/>
            <a:ext cx="37490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2F0F7"/>
                </a:solidFill>
              </a:rPr>
              <a:t>Data privacy — smart meters reveal daily lifestyle patterns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2F0F7"/>
                </a:solidFill>
              </a:rPr>
              <a:t>Consent required before collecting fine-grained usage data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2F0F7"/>
                </a:solidFill>
              </a:rPr>
              <a:t>Risk of profiling or discriminatory tariffs by cluster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2F0F7"/>
                </a:solidFill>
              </a:rPr>
              <a:t>Secure storage and access control for sensitive records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2F0F7"/>
                </a:solidFill>
              </a:rPr>
              <a:t>Transparency in how anomaly flags are used by utilities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706</Words>
  <Application>Microsoft Office PowerPoint</Application>
  <PresentationFormat>On-screen Show (16:9)</PresentationFormat>
  <Paragraphs>143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Electricity Consumption Pattern Discovery</dc:title>
  <dc:subject>PptxGenJS Presentation</dc:subject>
  <dc:creator>PptxGenJS</dc:creator>
  <cp:lastModifiedBy>Aman Agrawal</cp:lastModifiedBy>
  <cp:revision>2</cp:revision>
  <dcterms:created xsi:type="dcterms:W3CDTF">2026-03-30T16:17:07Z</dcterms:created>
  <dcterms:modified xsi:type="dcterms:W3CDTF">2026-03-30T16:27:56Z</dcterms:modified>
</cp:coreProperties>
</file>